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notesSlides/notesSlide1.xml" Type="http://schemas.openxmlformats.org/officeDocument/2006/relationships/notesSlide"/><Relationship Id="rId29" Target="notesSlides/notesSlide2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3.xml" Type="http://schemas.openxmlformats.org/officeDocument/2006/relationships/notesSlide"/><Relationship Id="rId41" Target="notesSlides/notesSlide14.xml" Type="http://schemas.openxmlformats.org/officeDocument/2006/relationships/notesSlide"/><Relationship Id="rId42" Target="notesSlides/notesSlide15.xml" Type="http://schemas.openxmlformats.org/officeDocument/2006/relationships/notesSlide"/><Relationship Id="rId43" Target="notesSlides/notesSlide16.xml" Type="http://schemas.openxmlformats.org/officeDocument/2006/relationships/notesSlide"/><Relationship Id="rId44" Target="notesSlides/notesSlide17.xml" Type="http://schemas.openxmlformats.org/officeDocument/2006/relationships/notesSlide"/><Relationship Id="rId45" Target="notesSlides/notesSlide18.xml" Type="http://schemas.openxmlformats.org/officeDocument/2006/relationships/notesSlide"/><Relationship Id="rId46" Target="notesSlides/notesSlide19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大家好，欢迎参加本次演示。今天我将向大家介绍一款专为《Apex Legends》玩家打造的革命性工具——Apex 灵敏度实验室。这个项目旨在通过科学的方法，帮助玩家精准定制自己的游戏灵敏度，从而提升瞄准体验和竞技水平。接下来，我将详细解析这个项目的核心价值、功能亮点以及技术实现。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演示将分为五个部分。首先，我们将探讨项目的愿景与核心价值，了解我们为什么要做这件事。接着，会深入解析工具的五大核心功能模块。之后，我会介绍项目的技术架构与实现细节。然后，我们会明确项目的交付标准。最后，对项目进行总结并展望未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首先，让我们看看项目的背景。在《Apex Legends》这款快节奏游戏中，灵敏度设置是每个玩家都必须面对的难题。新手感到迷茫，进阶玩家遇到瓶颈，而跨游戏玩家则苦于反复调整。传统的试错法不仅效率低下，而且非常主观。因此，我们看到了一个明确的需求：为玩家提供一个科学、高效的调参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基于这些痛点，我们推出了“APEX 灵敏度实验室”。它不仅仅是一个计算器，而是一个一站式的解决方案。我们的使命是通过科学的测试，帮助玩家找到最适合自己的灵敏度，并提供全面的优化建议。我们的核心理念是数据驱动，让每个玩家都能精准定制自己的游戏手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核心价值主张可以概括为三个词：安全、便捷、高效。首先，我们承诺绝对安全，所有数据都在本地处理，保护玩家隐私。其次，工具极致便捷，它是一个单文件应用，开箱即用，甚至可以离线运行。最后，我们提供了高效的闭环体验，玩家可以一站式完成从测试到优化的全过程，告别反复的游戏内调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接下来，我们将深入了解这款工具的五大核心功能模块。这些功能共同构成了一个完整的生态系统，为玩家提供全方位的调参支持。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核心模块是五维灵敏度自测。这是整个工具的基石。我们设计了五种模拟游戏场景的测试，包括转身、跟枪、急停定位、多目标转移和压枪。通过这些测试，我们可以客观地量化玩家在不同维度的瞄准能力。测试结束后，系统会生成一个直观的雷达图和详细的评估报告，帮助玩家了解自己的优势和不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模块是智能参数推荐系统。它会根据五维自测的结果，分析玩家的控制力和速度得分，从而判断当前灵敏度是否合适。然后，系统会生成三套不同风格的推荐方案：保守稳定型、均衡通用型和激进跟枪型，以适应不同的游戏场景和个人偏好。此外，系统还能自动换算eDPI和cm/360等国际标准单位，并提供FOV变化时的手感统一计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模块是全套游戏参数优化。除了灵敏度，我们还提供了鼠标、画面、准星、音效和按键布局这五个维度的优化建议。考虑到玩家在排位和练枪时的不同需求，我们设计了双配置模式，可以一键切换。同时，配置的导入和导出功能也让备份和分享变得非常方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个模块是实用工具集。这里我们提供了三个非常实用的工具。首先是跨游戏灵敏度转换器，支持8款主流FPS游戏，让玩家在不同游戏间保持手感统一。其次是职业选手参数库，玩家可以一键套用顶级选手的配置作为参考。最后，我们还提供了针对性的瞄准练习方案，帮助玩家弥补短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一个模块是本地数据持久化。我们使用浏览器的localStorage来保存用户的所有数据，包括测试记录和配置预设。这意味着即使用户关闭浏览器，数据也不会丢失。我们还提供了一键清空数据的功能，并会在存储容量不足时给出提示，确保了数据管理的便捷性和安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了解了功能之后，让我们看看这款工具是如何实现的。接下来是技术架构部分。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我们的技术栈选择了轻量、高效且现代的方案。核心使用原生JavaScript，保证了代码的轻量和高效。样式采用Tailwind CSS，数据可视化使用Chart.js，两者都通过CDN引入，无需本地安装。核心的测试场景通过Canvas API绘制，并利用Pointer Lock API实现精准的鼠标输入。所有数据都存储在localStorage中。最关键的是，整个项目被打包成一个独立的index.html文件，实现了真正的开箱即用。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性能方面，我们确保了测试场景稳定在60fps，计算精度高，并且页面加载迅速。兼容性方面，我们优先适配Chrome和Edge浏览器，同时兼容Firefox。对于不支持核心API的浏览器，我们做了优雅的功能降级处理。此外，完善的输入校验和异常处理机制保证了工具的健壮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接下来，我们明确一下项目的交付物和验收标准。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主交付物是一个独立的index.html文件，它可以直接离线运行，并且代码规范。验收标准涵盖了功能完整性、性能、兼容性和代码规范四个方面。值得一提的是，这个项目经历了多次迭代，我们根据用户反馈，不断优化视觉风格、增强配置项、改善交互体验，并重构了推荐引擎，使产品更加成熟和完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最后，对项目进行总结，并展望未来的发展方向。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总结来说，“Apex 灵敏度实验室”通过科学的方法，为玩家提供了精准、安全、便捷的调参体验，帮助他们节省时间、突破瓶颈。展望未来，我们计划支持更多游戏，引入更高级的数据分析，建立玩家社区，并探索移动端适配，让这个工具变得更加强大和普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我的演示到此结束，感谢大家的观看！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5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2.svg" Type="http://schemas.openxmlformats.org/officeDocument/2006/relationships/image"/><Relationship Id="rId11" Target="../media/image28.png" Type="http://schemas.openxmlformats.org/officeDocument/2006/relationships/image"/><Relationship Id="rId12" Target="../media/image29.svg" Type="http://schemas.openxmlformats.org/officeDocument/2006/relationships/image"/><Relationship Id="rId13" Target="../notesSlides/notesSlide6.xml" Type="http://schemas.openxmlformats.org/officeDocument/2006/relationships/notesSlide"/><Relationship Id="rId2" Target="../media/image2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7.svg" Type="http://schemas.openxmlformats.org/officeDocument/2006/relationships/image"/><Relationship Id="rId11" Target="../media/image38.png" Type="http://schemas.openxmlformats.org/officeDocument/2006/relationships/image"/><Relationship Id="rId12" Target="../media/image39.svg" Type="http://schemas.openxmlformats.org/officeDocument/2006/relationships/image"/><Relationship Id="rId13" Target="../media/image40.jpeg" Type="http://schemas.openxmlformats.org/officeDocument/2006/relationships/image"/><Relationship Id="rId14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8.svg" Type="http://schemas.openxmlformats.org/officeDocument/2006/relationships/image"/><Relationship Id="rId11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41.png" Type="http://schemas.openxmlformats.org/officeDocument/2006/relationships/image"/><Relationship Id="rId4" Target="../media/image42.sv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4.svg" Type="http://schemas.openxmlformats.org/officeDocument/2006/relationships/image"/><Relationship Id="rId11" Target="../media/image55.png" Type="http://schemas.openxmlformats.org/officeDocument/2006/relationships/image"/><Relationship Id="rId12" Target="../media/image56.svg" Type="http://schemas.openxmlformats.org/officeDocument/2006/relationships/image"/><Relationship Id="rId13" Target="../media/image57.png" Type="http://schemas.openxmlformats.org/officeDocument/2006/relationships/image"/><Relationship Id="rId14" Target="../media/image58.svg" Type="http://schemas.openxmlformats.org/officeDocument/2006/relationships/image"/><Relationship Id="rId15" Target="../media/image59.jpeg" Type="http://schemas.openxmlformats.org/officeDocument/2006/relationships/image"/><Relationship Id="rId16" Target="../media/image60.png" Type="http://schemas.openxmlformats.org/officeDocument/2006/relationships/image"/><Relationship Id="rId17" Target="../media/image61.svg" Type="http://schemas.openxmlformats.org/officeDocument/2006/relationships/image"/><Relationship Id="rId18" Target="../media/image62.png" Type="http://schemas.openxmlformats.org/officeDocument/2006/relationships/image"/><Relationship Id="rId19" Target="../media/image63.svg" Type="http://schemas.openxmlformats.org/officeDocument/2006/relationships/image"/><Relationship Id="rId2" Target="../media/image2.jpeg" Type="http://schemas.openxmlformats.org/officeDocument/2006/relationships/image"/><Relationship Id="rId20" Target="../notesSlides/notesSlide9.xml" Type="http://schemas.openxmlformats.org/officeDocument/2006/relationships/notesSlid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9.jpeg" Type="http://schemas.openxmlformats.org/officeDocument/2006/relationships/image"/><Relationship Id="rId11" Target="../media/image70.jpeg" Type="http://schemas.openxmlformats.org/officeDocument/2006/relationships/image"/><Relationship Id="rId12" Target="../media/image71.jpeg" Type="http://schemas.openxmlformats.org/officeDocument/2006/relationships/image"/><Relationship Id="rId13" Target="../media/image72.jpeg" Type="http://schemas.openxmlformats.org/officeDocument/2006/relationships/image"/><Relationship Id="rId14" Target="../media/image73.jpeg" Type="http://schemas.openxmlformats.org/officeDocument/2006/relationships/image"/><Relationship Id="rId15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64.png" Type="http://schemas.openxmlformats.org/officeDocument/2006/relationships/image"/><Relationship Id="rId4" Target="../media/image65.svg" Type="http://schemas.openxmlformats.org/officeDocument/2006/relationships/image"/><Relationship Id="rId5" Target="../media/image66.png" Type="http://schemas.openxmlformats.org/officeDocument/2006/relationships/image"/><Relationship Id="rId6" Target="../media/image6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6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1.svg" Type="http://schemas.openxmlformats.org/officeDocument/2006/relationships/image"/><Relationship Id="rId11" Target="../notesSlides/notesSlide11.xml" Type="http://schemas.openxmlformats.org/officeDocument/2006/relationships/notesSlide"/><Relationship Id="rId2" Target="../media/image2.jpeg" Type="http://schemas.openxmlformats.org/officeDocument/2006/relationships/image"/><Relationship Id="rId3" Target="../media/image74.png" Type="http://schemas.openxmlformats.org/officeDocument/2006/relationships/image"/><Relationship Id="rId4" Target="../media/image75.svg" Type="http://schemas.openxmlformats.org/officeDocument/2006/relationships/image"/><Relationship Id="rId5" Target="../media/image76.png" Type="http://schemas.openxmlformats.org/officeDocument/2006/relationships/image"/><Relationship Id="rId6" Target="../media/image77.svg" Type="http://schemas.openxmlformats.org/officeDocument/2006/relationships/image"/><Relationship Id="rId7" Target="../media/image78.png" Type="http://schemas.openxmlformats.org/officeDocument/2006/relationships/image"/><Relationship Id="rId8" Target="../media/image79.svg" Type="http://schemas.openxmlformats.org/officeDocument/2006/relationships/image"/><Relationship Id="rId9" Target="../media/image8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82.png" Type="http://schemas.openxmlformats.org/officeDocument/2006/relationships/image"/><Relationship Id="rId4" Target="../media/image83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74.png" Type="http://schemas.openxmlformats.org/officeDocument/2006/relationships/image"/><Relationship Id="rId8" Target="../media/image75.svg" Type="http://schemas.openxmlformats.org/officeDocument/2006/relationships/image"/><Relationship Id="rId9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9.svg" Type="http://schemas.openxmlformats.org/officeDocument/2006/relationships/image"/><Relationship Id="rId11" Target="../media/image90.png" Type="http://schemas.openxmlformats.org/officeDocument/2006/relationships/image"/><Relationship Id="rId12" Target="../media/image91.svg" Type="http://schemas.openxmlformats.org/officeDocument/2006/relationships/image"/><Relationship Id="rId13" Target="../media/image92.png" Type="http://schemas.openxmlformats.org/officeDocument/2006/relationships/image"/><Relationship Id="rId14" Target="../media/image93.svg" Type="http://schemas.openxmlformats.org/officeDocument/2006/relationships/image"/><Relationship Id="rId15" Target="../notesSlides/notesSlide13.xml" Type="http://schemas.openxmlformats.org/officeDocument/2006/relationships/notesSlide"/><Relationship Id="rId2" Target="../media/image2.jpeg" Type="http://schemas.openxmlformats.org/officeDocument/2006/relationships/image"/><Relationship Id="rId3" Target="../media/image84.png" Type="http://schemas.openxmlformats.org/officeDocument/2006/relationships/image"/><Relationship Id="rId4" Target="../media/image85.svg" Type="http://schemas.openxmlformats.org/officeDocument/2006/relationships/image"/><Relationship Id="rId5" Target="../media/image86.png" Type="http://schemas.openxmlformats.org/officeDocument/2006/relationships/image"/><Relationship Id="rId6" Target="../media/image87.svg" Type="http://schemas.openxmlformats.org/officeDocument/2006/relationships/image"/><Relationship Id="rId7" Target="../media/image49.png" Type="http://schemas.openxmlformats.org/officeDocument/2006/relationships/image"/><Relationship Id="rId8" Target="../media/image50.svg" Type="http://schemas.openxmlformats.org/officeDocument/2006/relationships/image"/><Relationship Id="rId9" Target="../media/image8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7.svg" Type="http://schemas.openxmlformats.org/officeDocument/2006/relationships/image"/><Relationship Id="rId11" Target="../media/image60.png" Type="http://schemas.openxmlformats.org/officeDocument/2006/relationships/image"/><Relationship Id="rId12" Target="../media/image61.svg" Type="http://schemas.openxmlformats.org/officeDocument/2006/relationships/image"/><Relationship Id="rId13" Target="../media/image76.png" Type="http://schemas.openxmlformats.org/officeDocument/2006/relationships/image"/><Relationship Id="rId14" Target="../media/image77.svg" Type="http://schemas.openxmlformats.org/officeDocument/2006/relationships/image"/><Relationship Id="rId15" Target="../notesSlides/notesSlide14.xml" Type="http://schemas.openxmlformats.org/officeDocument/2006/relationships/notesSlide"/><Relationship Id="rId2" Target="../media/image2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94.png" Type="http://schemas.openxmlformats.org/officeDocument/2006/relationships/image"/><Relationship Id="rId6" Target="../media/image95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9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92.png" Type="http://schemas.openxmlformats.org/officeDocument/2006/relationships/image"/><Relationship Id="rId4" Target="../media/image93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98.png" Type="http://schemas.openxmlformats.org/officeDocument/2006/relationships/image"/><Relationship Id="rId8" Target="../media/image99.svg" Type="http://schemas.openxmlformats.org/officeDocument/2006/relationships/image"/><Relationship Id="rId9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3.svg" Type="http://schemas.openxmlformats.org/officeDocument/2006/relationships/image"/><Relationship Id="rId11" Target="../media/image90.png" Type="http://schemas.openxmlformats.org/officeDocument/2006/relationships/image"/><Relationship Id="rId12" Target="../media/image91.svg" Type="http://schemas.openxmlformats.org/officeDocument/2006/relationships/image"/><Relationship Id="rId13" Target="../media/image104.png" Type="http://schemas.openxmlformats.org/officeDocument/2006/relationships/image"/><Relationship Id="rId14" Target="../media/image105.svg" Type="http://schemas.openxmlformats.org/officeDocument/2006/relationships/image"/><Relationship Id="rId15" Target="../media/image106.png" Type="http://schemas.openxmlformats.org/officeDocument/2006/relationships/image"/><Relationship Id="rId16" Target="../media/image107.svg" Type="http://schemas.openxmlformats.org/officeDocument/2006/relationships/image"/><Relationship Id="rId17" Target="../media/image108.png" Type="http://schemas.openxmlformats.org/officeDocument/2006/relationships/image"/><Relationship Id="rId18" Target="../media/image109.svg" Type="http://schemas.openxmlformats.org/officeDocument/2006/relationships/image"/><Relationship Id="rId19" Target="../notesSlides/notesSlide16.xml" Type="http://schemas.openxmlformats.org/officeDocument/2006/relationships/notesSlide"/><Relationship Id="rId2" Target="../media/image2.jpeg" Type="http://schemas.openxmlformats.org/officeDocument/2006/relationships/image"/><Relationship Id="rId3" Target="../media/image84.png" Type="http://schemas.openxmlformats.org/officeDocument/2006/relationships/image"/><Relationship Id="rId4" Target="../media/image85.svg" Type="http://schemas.openxmlformats.org/officeDocument/2006/relationships/image"/><Relationship Id="rId5" Target="../media/image100.png" Type="http://schemas.openxmlformats.org/officeDocument/2006/relationships/image"/><Relationship Id="rId6" Target="../media/image101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10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10.png" Type="http://schemas.openxmlformats.org/officeDocument/2006/relationships/image"/><Relationship Id="rId4" Target="../media/image111.svg" Type="http://schemas.openxmlformats.org/officeDocument/2006/relationships/image"/><Relationship Id="rId5" Target="../media/image112.png" Type="http://schemas.openxmlformats.org/officeDocument/2006/relationships/image"/><Relationship Id="rId6" Target="../media/image113.svg" Type="http://schemas.openxmlformats.org/officeDocument/2006/relationships/image"/><Relationship Id="rId7" Target="../media/image114.png" Type="http://schemas.openxmlformats.org/officeDocument/2006/relationships/image"/><Relationship Id="rId8" Target="../media/image115.svg" Type="http://schemas.openxmlformats.org/officeDocument/2006/relationships/image"/><Relationship Id="rId9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5.svg" Type="http://schemas.openxmlformats.org/officeDocument/2006/relationships/image"/><Relationship Id="rId11" Target="../media/image116.png" Type="http://schemas.openxmlformats.org/officeDocument/2006/relationships/image"/><Relationship Id="rId12" Target="../media/image117.svg" Type="http://schemas.openxmlformats.org/officeDocument/2006/relationships/image"/><Relationship Id="rId13" Target="../media/image118.png" Type="http://schemas.openxmlformats.org/officeDocument/2006/relationships/image"/><Relationship Id="rId14" Target="../media/image119.svg" Type="http://schemas.openxmlformats.org/officeDocument/2006/relationships/image"/><Relationship Id="rId15" Target="../notesSlides/notesSlide18.xml" Type="http://schemas.openxmlformats.org/officeDocument/2006/relationships/notesSlide"/><Relationship Id="rId2" Target="../media/image2.jpeg" Type="http://schemas.openxmlformats.org/officeDocument/2006/relationships/image"/><Relationship Id="rId3" Target="../media/image110.png" Type="http://schemas.openxmlformats.org/officeDocument/2006/relationships/image"/><Relationship Id="rId4" Target="../media/image111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20.jpeg" Type="http://schemas.openxmlformats.org/officeDocument/2006/relationships/image"/><Relationship Id="rId3" Target="../notesSlides/notesSlide19.xml" Type="http://schemas.openxmlformats.org/officeDocument/2006/relationships/notesSlide"/><Relationship Id="rId4" Target="../media/image1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540000"/>
            <a:ext cx="1016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Apex 灵敏度实验室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4191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600" spc="200">
                <a:solidFill>
                  <a:srgbClr val="E0EC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项目演示与价值解析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5461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7150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科学调校参数 · 重塑瞄准体验 · 突破竞技瓶颈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111827">
              <a:alpha val="50000"/>
            </a:srgbClr>
          </a:solidFill>
          <a:ln w="12700" cmpd="sng" cap="flat">
            <a:solidFill>
              <a:srgbClr val="4A90E2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0800" cy="19050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968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714500" y="2032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项目愿景与核心价值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667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直击玩家体验痛点，精准锚定产品的市场定位，深度阐述项目的核心价值主张与长远发展目标。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815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111827">
              <a:alpha val="50000"/>
            </a:srgbClr>
          </a:solidFill>
          <a:ln w="12700" cmpd="sng" cap="flat">
            <a:solidFill>
              <a:srgbClr val="4A90E2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81500" y="1778000"/>
            <a:ext cx="50800" cy="19050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1968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334000" y="2032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核心功能深度解析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72000" y="2667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深度拆解五维能力自测、智能游戏推荐、硬件参数优化等五大核心模块的设计逻辑与应用场景。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010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111827">
              <a:alpha val="50000"/>
            </a:srgbClr>
          </a:solidFill>
          <a:ln w="12700" cmpd="sng" cap="flat">
            <a:solidFill>
              <a:srgbClr val="4A90E2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01000" y="1778000"/>
            <a:ext cx="50800" cy="19050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91500" y="1968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953500" y="2032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技术架构与实现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91500" y="2667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详解轻量化技术栈选型，实现单文件便携交付，兼顾极致的性能表现与多端设备的广泛兼容性。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191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111827">
              <a:alpha val="50000"/>
            </a:srgbClr>
          </a:solidFill>
          <a:ln w="12700" cmpd="sng" cap="flat">
            <a:solidFill>
              <a:srgbClr val="4A90E2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191000"/>
            <a:ext cx="50800" cy="19050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52500" y="4381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714500" y="4445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项目交付与验收标准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52500" y="5080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明确核心交付物清单与验收指标，建立完整的项目迭代记录，确保产品高质量交付与可追溯性。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381500" y="4191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111827">
              <a:alpha val="50000"/>
            </a:srgbClr>
          </a:solidFill>
          <a:ln w="12700" cmpd="sng" cap="flat">
            <a:solidFill>
              <a:srgbClr val="4A90E2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381500" y="4191000"/>
            <a:ext cx="50800" cy="19050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572000" y="4381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334000" y="4445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总结与未来展望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572000" y="5080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总结项目的核心竞争优势与成果亮点，展望后续功能迭代方向与电竞生态的多元化发展规划。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001000" y="4191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4A90E2">
              <a:alpha val="8000"/>
            </a:srgbClr>
          </a:solidFill>
          <a:ln w="12700" cmpd="sng" cap="flat">
            <a:solidFill>
              <a:srgbClr val="4A90E2">
                <a:alpha val="2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359900" y="4597400"/>
            <a:ext cx="711200" cy="7112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8128000" y="5461000"/>
            <a:ext cx="317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—— 开启电竞体验新篇章 ——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项目愿景与核心价值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138" b="138"/>
          <a:stretch>
            <a:fillRect/>
          </a:stretch>
        </p:blipFill>
        <p:spPr>
          <a:xfrm rot="0" flipH="false" flipV="false">
            <a:off x="762000" y="1714500"/>
            <a:ext cx="2794000" cy="3556000"/>
          </a:xfrm>
          <a:prstGeom prst="rect">
            <a:avLst/>
          </a:prstGeom>
          <a:noFill/>
          <a:ln w="25400" cmpd="sng" cap="flat">
            <a:solidFill>
              <a:srgbClr val="4A90E2">
                <a:alpha val="6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000000">
                <a:alpha val="4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397500"/>
            <a:ext cx="2794000" cy="1016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5524500"/>
            <a:ext cx="254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打破“凭感觉”的传统调参模式，为玩家打造</a:t>
            </a:r>
            <a:r>
              <a:rPr lang="en-US" b="true" i="false" strike="noStrike" u="none" sz="13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科学、精准、高效</a:t>
            </a: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的灵敏度适配解决方案，用数据终结迷茫。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318000" y="1714500"/>
            <a:ext cx="7112000" cy="1371600"/>
          </a:xfrm>
          <a:prstGeom prst="roundRect">
            <a:avLst>
              <a:gd name="adj" fmla="val 0"/>
            </a:avLst>
          </a:prstGeom>
          <a:solidFill>
            <a:srgbClr val="141E32">
              <a:alpha val="45000"/>
            </a:srgbClr>
          </a:solidFill>
          <a:ln w="12700" cmpd="sng" cap="flat">
            <a:solidFill>
              <a:srgbClr val="4A90E2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46600" y="19304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105400" y="1905000"/>
            <a:ext cx="6223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新手期：参数迷雾中的手足无措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105400" y="2336800"/>
            <a:ext cx="609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面对DPI、游戏灵敏度、视野(FOV)等繁杂参数无从下手，随意的初始设置导致操作手感割裂，不仅影响游戏体验，更直接阻碍了瞄准基础的建立，陷入“越玩越不准”的恶性循环。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18000" y="3276600"/>
            <a:ext cx="7112000" cy="1371600"/>
          </a:xfrm>
          <a:prstGeom prst="roundRect">
            <a:avLst>
              <a:gd name="adj" fmla="val 0"/>
            </a:avLst>
          </a:prstGeom>
          <a:solidFill>
            <a:srgbClr val="141E32">
              <a:alpha val="45000"/>
            </a:srgbClr>
          </a:solidFill>
          <a:ln w="12700" cmpd="sng" cap="flat">
            <a:solidFill>
              <a:srgbClr val="4A90E2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546600" y="3492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105400" y="3467100"/>
            <a:ext cx="6223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成长期：技术突破的隐形天花板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105400" y="3898900"/>
            <a:ext cx="609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枪法提升遭遇瓶颈，定位飘、跟枪抖成为常态。因缺乏科学的调试逻辑，仅凭“感觉”反复微调参数，效率极低且难以找到最优解，导致竞技水平停滞不前，无法突破技术壁垒。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318000" y="4838700"/>
            <a:ext cx="7112000" cy="1371600"/>
          </a:xfrm>
          <a:prstGeom prst="roundRect">
            <a:avLst>
              <a:gd name="adj" fmla="val 0"/>
            </a:avLst>
          </a:prstGeom>
          <a:solidFill>
            <a:srgbClr val="141E32">
              <a:alpha val="45000"/>
            </a:srgbClr>
          </a:solidFill>
          <a:ln w="12700" cmpd="sng" cap="flat">
            <a:solidFill>
              <a:srgbClr val="4A90E2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546600" y="50546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105400" y="5029200"/>
            <a:ext cx="6223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多游期：跨游戏的肌肉记忆断层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105400" y="5461000"/>
            <a:ext cx="609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在《Apex》、《CS2》、《Valorant》等FPS游戏间切换时，灵敏度体系不互通导致手感失效。每次换游都需重新花费数小时调试，不仅浪费精力，更难以在不同游戏间保持稳定的竞技状态。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项目愿景与核心价值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660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产品定位：一站式灵敏度解决方案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660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“Apex 灵敏度实验室”是一个集</a:t>
            </a:r>
            <a:r>
              <a:rPr lang="en-US" b="false" i="false" strike="noStrike" u="none" sz="14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科学自测、智能推荐、全面优化、工具辅助</a:t>
            </a: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于一体的综合性平台，专为《Apex Legends》玩家打造，无需安装即可体验。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302000"/>
            <a:ext cx="6604000" cy="9525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35941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3403600"/>
            <a:ext cx="5715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产品定义：轻量化纯前端工具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采用单文件架构，即开即用无延迟，专注提供精准的鼠标灵敏度换算、场景化参数预设与可视化调整功能。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381500"/>
            <a:ext cx="6604000" cy="9525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6736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4483100"/>
            <a:ext cx="5715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核心使命：科学匹配最佳手感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通过标准化的五维瞄准测试体系，量化操作反馈，帮助玩家摆脱“凭感觉”调参，快速锁定最适配的灵敏度区间。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461000"/>
            <a:ext cx="6604000" cy="9525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7531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24000" y="5562600"/>
            <a:ext cx="5715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核心理念：数据驱动体验升级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将职业级数据分析模型平民化，让每一位玩家都能通过客观数据定制专属参数，实现从“人适应游戏”到“游戏适配人”。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7874000" y="2032000"/>
            <a:ext cx="2667000" cy="3556000"/>
          </a:xfrm>
          <a:prstGeom prst="rect">
            <a:avLst/>
          </a:prstGeom>
          <a:noFill/>
          <a:ln w="25400" cmpd="sng" cap="flat">
            <a:solidFill>
              <a:srgbClr val="4A90E2">
                <a:alpha val="60000"/>
              </a:srgbClr>
            </a:solidFill>
            <a:prstDash val="solid"/>
            <a:round/>
          </a:ln>
          <a:effectLst>
            <a:outerShdw dir="2700000" dist="101600" blurRad="190500" algn="tl" rotWithShape="false">
              <a:srgbClr val="000000">
                <a:alpha val="40000"/>
              </a:srgbClr>
            </a:outerShdw>
          </a:effectLst>
        </p:spPr>
      </p:pic>
      <p:sp>
        <p:nvSpPr>
          <p:cNvPr name="AutoShape 16" id="16"/>
          <p:cNvSpPr/>
          <p:nvPr/>
        </p:nvSpPr>
        <p:spPr>
          <a:xfrm rot="0" flipH="false" flipV="false">
            <a:off x="7874000" y="5651500"/>
            <a:ext cx="355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“让每一次瞄准都精准命中”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项目愿景与核心价值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429000" cy="2921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032000"/>
            <a:ext cx="2667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纯本地运行，绝对安全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67000"/>
            <a:ext cx="2921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A8D0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数据零上传：</a:t>
            </a:r>
            <a:r>
              <a:rPr lang="en-US" b="false" i="false" strike="noStrike" u="none" sz="13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所有计算与存储均在浏览器端完成，无任何数据上云，从源头杜绝隐私泄露风险。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A8D0FF"/>
                </a:solidFill>
                <a:latin typeface="Noto Sans SC"/>
                <a:ea typeface="Noto Sans SC"/>
                <a:cs typeface="Noto Sans SC"/>
                <a:sym typeface="Noto Sans SC"/>
              </a:rPr>
              <a:t>隐私保护：</a:t>
            </a:r>
            <a:r>
              <a:rPr lang="en-US" b="false" i="false" strike="noStrike" u="none" sz="13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每一次的参数测试、配置调整均在本地闭环，确保个人游戏数据绝对私密。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1778000"/>
            <a:ext cx="3429000" cy="2921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2032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143500" y="2032000"/>
            <a:ext cx="2667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开箱即用，极致便捷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35500" y="2667000"/>
            <a:ext cx="2921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A8D0FF"/>
                </a:solidFill>
                <a:latin typeface="Noto Sans SC"/>
                <a:ea typeface="Noto Sans SC"/>
                <a:cs typeface="Noto Sans SC"/>
                <a:sym typeface="Noto Sans SC"/>
              </a:rPr>
              <a:t>单文件交付：</a:t>
            </a:r>
            <a:r>
              <a:rPr lang="en-US" b="false" i="false" strike="noStrike" u="none" sz="13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仅需一个独立的 HTML 文件，双击即可启动，无需安装任何客户端或运行环境。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A8D0FF"/>
                </a:solidFill>
                <a:latin typeface="Noto Sans SC"/>
                <a:ea typeface="Noto Sans SC"/>
                <a:cs typeface="Noto Sans SC"/>
                <a:sym typeface="Noto Sans SC"/>
              </a:rPr>
              <a:t>离线运行：</a:t>
            </a:r>
            <a:r>
              <a:rPr lang="en-US" b="false" i="false" strike="noStrike" u="none" sz="13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资源完全内联打包，脱离网络环境亦可流畅运行，随时随地进行参数调试。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1778000"/>
            <a:ext cx="3429000" cy="2921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2032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763000" y="2032000"/>
            <a:ext cx="2667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闭环体验，高效调参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2667000"/>
            <a:ext cx="2921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A8D0FF"/>
                </a:solidFill>
                <a:latin typeface="Noto Sans SC"/>
                <a:ea typeface="Noto Sans SC"/>
                <a:cs typeface="Noto Sans SC"/>
                <a:sym typeface="Noto Sans SC"/>
              </a:rPr>
              <a:t>一站式流程：</a:t>
            </a:r>
            <a:r>
              <a:rPr lang="en-US" b="false" i="false" strike="noStrike" u="none" sz="13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从性能自测、智能推荐到参数优化、效果验证，全链路一站式完成，无需切换工具。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A8D0FF"/>
                </a:solidFill>
                <a:latin typeface="Noto Sans SC"/>
                <a:ea typeface="Noto Sans SC"/>
                <a:cs typeface="Noto Sans SC"/>
                <a:sym typeface="Noto Sans SC"/>
              </a:rPr>
              <a:t>告别反复调试：</a:t>
            </a:r>
            <a:r>
              <a:rPr lang="en-US" b="false" i="false" strike="noStrike" u="none" sz="13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在模拟环境中完成所有配置验证，一次设置即可应用到游戏，减少反复重启的时间成本。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080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000000">
              <a:alpha val="2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rcRect l="2115" r="2115" t="0" b="0"/>
          <a:stretch>
            <a:fillRect/>
          </a:stretch>
        </p:blipFill>
        <p:spPr>
          <a:xfrm rot="0" flipH="false" flipV="false">
            <a:off x="1016000" y="5270500"/>
            <a:ext cx="1016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2286000" y="5270500"/>
            <a:ext cx="863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轻量化 Web 应用 · 全平台无缝兼容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基于现代 Web 技术构建，完美适配 Chrome、Edge、Firefox 等主流浏览器。无需高性能硬件支持，即使是入门级配置的电脑也能流畅运行，让每一位玩家都能轻松享受专业的调参体验。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核心功能深度解析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49400" y="2286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智能压枪算法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857500"/>
            <a:ext cx="2870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基于AI动态弹道补偿模型，毫秒级响应射击轨迹，自动修正武器后坐力偏移，大幅提升连续射击的命中率与稳定性。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06900" y="2032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60900" y="2286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194300" y="2286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自定义宏指令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60900" y="2857500"/>
            <a:ext cx="2870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可视化宏编程界面，支持录制、编辑复杂连招与一键触发多段操作，轻松实现一键跳投、一键瞬狙等进阶操作。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51800" y="2032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05800" y="2286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839200" y="2286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多端云端互通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05800" y="2857500"/>
            <a:ext cx="2870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配置文件采用端到端加密存储，支持跨设备实时同步。无论是更换外设还是切换电脑，个性化参数均可一键恢复。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191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549400" y="4445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原生硬件级映射技术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50165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跳过系统层级的硬件直连技术，实现输入信号零延迟响应。完美适配《CS2》《无畏契约》等电竞游戏的高帧率需求，确保每一次操作指令与画面同步无偏差，抢占竞技先机。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4191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477000" y="44450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010400" y="4445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RGB 电竞氛围生态联动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50165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深度联动主流硬件厂商灯效协议，根据游戏场景智能切换灯光色彩与律动模式。无论是击杀反馈的色彩闪烁，还是游戏剧情的氛围渲染，都能打造身临其境的沉浸式电竞体验。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mpd="sng" cap="flat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五维灵敏度自测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基于真实电竞场景设计的标准化测试体系，通过五大核心维度客观量化玩家的瞄准、定位与操控能力，为智能灵敏度方案生成提供坚实的数据基础。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86000"/>
            <a:ext cx="5588000" cy="7112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286000"/>
            <a:ext cx="50800" cy="7112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90600" y="24892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286000"/>
            <a:ext cx="4826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转身校准 · 速度与精度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完成360°视角极限旋转测试，精准评估手腕微操的灵活性与定位准确性。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098800"/>
            <a:ext cx="5588000" cy="7112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098800"/>
            <a:ext cx="50800" cy="7112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90600" y="3302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3098800"/>
            <a:ext cx="4826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跟枪测试 · 动态追踪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实时追踪高速移动靶标，核心考核连续跟枪的稳定性与动态命中率表现。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911600"/>
            <a:ext cx="5588000" cy="7112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911600"/>
            <a:ext cx="50800" cy="7112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90600" y="41148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397000" y="3911600"/>
            <a:ext cx="4826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急停定位 · 反应极限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捕捉随机刷新的瞬靶，测试突发情况下的反应速度、急停能力与点击精度。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724400"/>
            <a:ext cx="5588000" cy="7112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724400"/>
            <a:ext cx="50800" cy="7112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90600" y="49276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397000" y="4724400"/>
            <a:ext cx="4826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多目标转移 · 视野切换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按序快速切换并命中多组分散目标，评估视角转移的流畅度与目标切换效率。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537200"/>
            <a:ext cx="5588000" cy="7112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537200"/>
            <a:ext cx="50800" cy="7112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990600" y="57404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397000" y="5537200"/>
            <a:ext cx="4826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压枪测试 · 弹道控制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模拟全自动武器后坐力，量化垂直/水平方向的压枪补偿能力与弹道偏差。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3"/>
          <a:srcRect l="0" r="0" t="86" b="86"/>
          <a:stretch>
            <a:fillRect/>
          </a:stretch>
        </p:blipFill>
        <p:spPr>
          <a:xfrm rot="0" flipH="false" flipV="false">
            <a:off x="7239000" y="2286000"/>
            <a:ext cx="3683000" cy="2451100"/>
          </a:xfrm>
          <a:prstGeom prst="rect">
            <a:avLst/>
          </a:prstGeom>
          <a:noFill/>
          <a:ln w="25400" cmpd="sng" cap="flat">
            <a:solidFill>
              <a:srgbClr val="4A90E2">
                <a:alpha val="40000"/>
              </a:srgbClr>
            </a:solidFill>
            <a:prstDash val="solid"/>
            <a:round/>
          </a:ln>
        </p:spPr>
      </p:pic>
      <p:sp>
        <p:nvSpPr>
          <p:cNvPr name="AutoShape 26" id="26"/>
          <p:cNvSpPr/>
          <p:nvPr/>
        </p:nvSpPr>
        <p:spPr>
          <a:xfrm rot="0" flipH="false" flipV="false">
            <a:off x="7239000" y="4953000"/>
            <a:ext cx="3683000" cy="1460500"/>
          </a:xfrm>
          <a:prstGeom prst="roundRect">
            <a:avLst>
              <a:gd name="adj" fmla="val 0"/>
            </a:avLst>
          </a:prstGeom>
          <a:solidFill>
            <a:srgbClr val="141E32">
              <a:alpha val="50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366000" y="5080000"/>
            <a:ext cx="342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智能评估报告生成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366000" y="5461000"/>
            <a:ext cx="342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测试结束后，系统将基于五项数据生成综合能力雷达图，输出个性化的手感评估结论与灵敏度优化建议，精准定位操作短板。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模块二：智能参数推荐系统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基于五维自测结果，为玩家生成个性化的灵敏度优化方案，精准匹配操作习惯与游戏场景，实现从数据到手感的完美转化。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349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6035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603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01 智能基准判定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1115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深度分析控制力与速度得分的平衡关系，智能判定灵敏度偏高、偏低或均衡状态，基于核心算法模型精准计算适配的最优基准灵敏度，为方案生成提供科学依据。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2349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6035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985000" y="2603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02 全场景方案输出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31115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提供三套差异化方案：保守型(×0.85)强化远距离精准定位；均衡型(基准值)兼顾定位与跟枪，适配绝大多数场景；激进型(×1.15)提升近距离跟枪速度，满足不同打法需求。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381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6355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4635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03 专业数据自动换算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51435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自动生成eDPI、cm/360°等国际通用专业指标，内置FOV手感统一计算器，轻松实现跨设备、跨游戏的手感无缝衔接，告别手动换算的繁琐。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4381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6355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985000" y="4635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04 人性化解读与提示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51435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拒绝冰冷的数据展示，提供方案的详细文字解读与适用场景说明，并附带灵敏度调整的风险提示与适应建议，帮助玩家理解逻辑并平稳过渡到新参数。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模块三：全套游戏参数优化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8415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1841500"/>
            <a:ext cx="2730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鼠标设置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222500"/>
            <a:ext cx="304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优化原始输入、去除加速、匹配高回报率，消除鼠标延迟，打造极致跟枪手感。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16510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18415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016500" y="1841500"/>
            <a:ext cx="2730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画面画质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2222500"/>
            <a:ext cx="304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平衡分辨率、视野(FOV)与特效等级，兼顾清晰度与帧率流畅度，快速发现敌人。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16510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18415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636000" y="1841500"/>
            <a:ext cx="2730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准星设置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91500" y="2222500"/>
            <a:ext cx="304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提供职业选手级主流配置建议，支持颜色、形状与大小的实时预览和自定义。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1115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33020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397000" y="3302000"/>
            <a:ext cx="2730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音效设置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" y="3683000"/>
            <a:ext cx="304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精准调校主音量、背景音与特效音的均衡，强化脚步声、枪声等关键信息。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381500" y="31115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572000" y="3302000"/>
            <a:ext cx="355600" cy="355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5016500" y="3302000"/>
            <a:ext cx="2730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按键布局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572000" y="3683000"/>
            <a:ext cx="304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基于身法操作与技能释放的人体工学布局方案，减少误触，提升操作上限。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001000" y="31115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191500" y="3302000"/>
            <a:ext cx="355600" cy="3556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636000" y="3302000"/>
            <a:ext cx="2730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进阶调校贴士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191500" y="3683000"/>
            <a:ext cx="304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根据个人手部大小和握持习惯微调DPI与灵敏度，找到最舒适的跟枪节奏。</a:t>
            </a:r>
            <a:endParaRPr lang="en-US" sz="1100"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5"/>
          <a:srcRect l="0" r="0" t="2869" b="2869"/>
          <a:stretch>
            <a:fillRect/>
          </a:stretch>
        </p:blipFill>
        <p:spPr>
          <a:xfrm rot="0" flipH="false" flipV="false">
            <a:off x="762000" y="4445000"/>
            <a:ext cx="3556000" cy="2032000"/>
          </a:xfrm>
          <a:prstGeom prst="rect">
            <a:avLst/>
          </a:prstGeom>
          <a:noFill/>
          <a:ln w="25400" cmpd="sng" cap="flat">
            <a:solidFill>
              <a:srgbClr val="4A90E2">
                <a:alpha val="60000"/>
              </a:srgbClr>
            </a:solidFill>
            <a:prstDash val="solid"/>
            <a:round/>
          </a:ln>
        </p:spPr>
      </p:pic>
      <p:sp>
        <p:nvSpPr>
          <p:cNvPr name="AutoShape 29" id="29"/>
          <p:cNvSpPr/>
          <p:nvPr/>
        </p:nvSpPr>
        <p:spPr>
          <a:xfrm rot="0" flipH="false" flipV="false">
            <a:off x="4572000" y="4445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4A90E2">
              <a:alpha val="15000"/>
            </a:srgbClr>
          </a:solidFill>
          <a:ln w="12700" cmpd="sng" cap="flat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4762500" y="4635500"/>
            <a:ext cx="406400" cy="4064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5270500" y="4635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双配置一键切换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4762500" y="51435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针对「排位竞技」与「练枪特训」打造差异化参数方案，点击即可无缝切换，无需反复调试，快速适应从高强度对抗到基础瞄准训练的不同场景需求。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191500" y="4445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4A90E2">
              <a:alpha val="15000"/>
            </a:srgbClr>
          </a:solidFill>
          <a:ln w="12700" cmpd="sng" cap="flat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8382000" y="4635500"/>
            <a:ext cx="406400" cy="406400"/>
          </a:xfrm>
          <a:prstGeom prst="rect">
            <a:avLst/>
          </a:prstGeom>
        </p:spPr>
      </p:pic>
      <p:sp>
        <p:nvSpPr>
          <p:cNvPr name="AutoShape 35" id="35"/>
          <p:cNvSpPr/>
          <p:nvPr/>
        </p:nvSpPr>
        <p:spPr>
          <a:xfrm rot="0" flipH="false" flipV="false">
            <a:off x="8890000" y="4635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配置云端互通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382000" y="51435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支持JSON格式配置文件的一键导出与导入，轻松备份个人专属方案，防止意外丢失。亦可与队友、朋友分享你的独家参数，快速同步到任意设备。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mpd="sng" cap="flat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模块四：实用工具集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65200" y="18796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18542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跨游戏灵敏度转换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2413000"/>
            <a:ext cx="29718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6E8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 cm/360° 为统一物理标准，支持 Apex、CS2、Valorant 等8款主流 FPS 游戏互转，确保跨游戏操作手感无缝衔接，保留肌肉记忆。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06900" y="1651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10100" y="18796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041900" y="18542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职业选手参数库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10100" y="2413000"/>
            <a:ext cx="29718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6E8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收录10+位 ALGS、VCT 顶级联赛职业选手的公开配置，涵盖灵敏度、DPI及外设参数，支持一键导入参考，快速对标职业级操作习惯。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51800" y="1651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18796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686800" y="18542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定制化瞄准特训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2413000"/>
            <a:ext cx="29718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6E8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基于跟枪、定位、反应等维度的短板分析，生成专属训练计划。覆盖“快速热身”“日常强化”“赛前爆发”三大场景，科学提升枪法。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191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支持主流 FPS 游戏生态 ——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rcRect l="43378" r="43378" t="0" b="0"/>
          <a:stretch>
            <a:fillRect/>
          </a:stretch>
        </p:blipFill>
        <p:spPr>
          <a:xfrm rot="0" flipH="false" flipV="false">
            <a:off x="762000" y="4889500"/>
            <a:ext cx="1651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rcRect l="0" r="0" t="3379" b="3379"/>
          <a:stretch>
            <a:fillRect/>
          </a:stretch>
        </p:blipFill>
        <p:spPr>
          <a:xfrm rot="0" flipH="false" flipV="false">
            <a:off x="2667000" y="4889500"/>
            <a:ext cx="1651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rcRect l="0" r="0" t="769" b="769"/>
          <a:stretch>
            <a:fillRect/>
          </a:stretch>
        </p:blipFill>
        <p:spPr>
          <a:xfrm rot="0" flipH="false" flipV="false">
            <a:off x="4572000" y="4889500"/>
            <a:ext cx="1651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rcRect l="4296" r="4296" t="0" b="0"/>
          <a:stretch>
            <a:fillRect/>
          </a:stretch>
        </p:blipFill>
        <p:spPr>
          <a:xfrm rot="0" flipH="false" flipV="false">
            <a:off x="6477000" y="4889500"/>
            <a:ext cx="1651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rcRect l="4296" r="4296" t="0" b="0"/>
          <a:stretch>
            <a:fillRect/>
          </a:stretch>
        </p:blipFill>
        <p:spPr>
          <a:xfrm rot="0" flipH="false" flipV="false">
            <a:off x="8318500" y="4889500"/>
            <a:ext cx="1651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rcRect l="4296" r="4296" t="0" b="0"/>
          <a:stretch>
            <a:fillRect/>
          </a:stretch>
        </p:blipFill>
        <p:spPr>
          <a:xfrm rot="0" flipH="false" flipV="false">
            <a:off x="10160000" y="4889500"/>
            <a:ext cx="1651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模块五：本地数据持久化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0F172A">
              <a:alpha val="40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0828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778000" y="20828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01 全域数据存储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800" y="2667000"/>
            <a:ext cx="4597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基于浏览器 localStorage 实现全量数据落盘，自动同步基础配置、历史测试记录及两套个性化配置预设，确保所有关键数据实时留存。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0F172A">
              <a:alpha val="40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27800" y="20828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239000" y="20828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02 本地安全留存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527800" y="2667000"/>
            <a:ext cx="4597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数据仅在用户本地浏览器端存储，无云端上传风险，隐私更安全。即使页面刷新、浏览器关闭或设备重启，数据依然完整保留，永不丢失。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1275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0F172A">
              <a:alpha val="40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66800" y="44323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778000" y="44323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03 一键重置管理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66800" y="5016500"/>
            <a:ext cx="4597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提供可视化的「清空本地数据」功能入口，支持一键清理所有历史记录与配置信息，快速恢复系统初始状态，满足用户重置或隐私清理需求。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41275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0F172A">
              <a:alpha val="40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27800" y="4432300"/>
            <a:ext cx="508000" cy="508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239000" y="44323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04 容量智能预警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527800" y="5016500"/>
            <a:ext cx="4597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实时监控 localStorage 存储容量状态，当剩余空间不足时，系统将自动触发弹窗提示，并智能引导用户清理过期的历史测试记录，保障功能稳定运行。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技术架构与实现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A90E2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46300" y="23495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3111500"/>
            <a:ext cx="3124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核心引擎层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197100" y="3619500"/>
            <a:ext cx="508000" cy="254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937000"/>
            <a:ext cx="2997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基于高性能计算框架，搭载多线程并发处理与动态负载均衡技术，实现毫秒级指令响应。底层封装了物理引擎与渲染管线，为上层应用提供稳定、强劲的算力基座。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069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A90E2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91200" y="23495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533900" y="3111500"/>
            <a:ext cx="3124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交互应用层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842000" y="3619500"/>
            <a:ext cx="508000" cy="254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97400" y="3937000"/>
            <a:ext cx="2997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采用轻量化的跨端交互框架，支持多终端实时同步与动态UI渲染。集成低延迟语音通信、虚拟道具系统与实时对战匹配，打造流畅无卡顿的沉浸式电竞体验。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518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A90E2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436100" y="23495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178800" y="3111500"/>
            <a:ext cx="3124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数据支撑层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486900" y="3619500"/>
            <a:ext cx="508000" cy="254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42300" y="3937000"/>
            <a:ext cx="2997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构建高可用分布式云存储架构，保障赛事数据、用户档案的实时同步与安全备份。依托大数据分析模块，深度挖掘用户行为与赛事数据价值，为运营与策略优化提供智能支撑。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842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4A90E2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▶ 全链路技术闭环设计，以高并发、低延迟、高扩展的架构，筑牢电竞生态的数字基石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技术栈：轻量、高效、现代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4A90E2">
              <a:alpha val="15000"/>
            </a:srgbClr>
          </a:solidFill>
          <a:ln w="12700" cmpd="sng" cap="flat">
            <a:solidFill>
              <a:srgbClr val="4A90E2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066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22400" y="19812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核心语言层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476500"/>
            <a:ext cx="2870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基于原生 HTML5 + CSS3 + Vanilla JS 构建，摒弃重型框架冗余，确保应用启动速度与运行效率的极致表现。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06900" y="1778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4A90E2">
              <a:alpha val="15000"/>
            </a:srgbClr>
          </a:solidFill>
          <a:ln w="12700" cmpd="sng" cap="flat">
            <a:solidFill>
              <a:srgbClr val="4A90E2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60900" y="20066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067300" y="19812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样式与可视化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60900" y="2476500"/>
            <a:ext cx="2870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 Tailwind CSS 实现原子化高效样式开发，集成 Chart.js 实现动态数据可视化，均通过 CDN 引入，零本地依赖。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51800" y="1778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4A90E2">
              <a:alpha val="15000"/>
            </a:srgbClr>
          </a:solidFill>
          <a:ln w="12700" cmpd="sng" cap="flat">
            <a:solidFill>
              <a:srgbClr val="4A90E2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05800" y="20066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712200" y="19812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沉浸交互引擎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05800" y="2476500"/>
            <a:ext cx="2870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 Canvas API 渲染高性能测试场景，结合 Pointer Lock API 实现无边界的精准鼠标输入，打造沉浸式操作体验。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0005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4A90E2">
              <a:alpha val="15000"/>
            </a:srgbClr>
          </a:solidFill>
          <a:ln w="12700" cmpd="sng" cap="flat">
            <a:solidFill>
              <a:srgbClr val="4A90E2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2291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422400" y="42037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本地化存储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4699000"/>
            <a:ext cx="2870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依托 localStorage 实现数据持久化，无需后端服务即可保存用户配置与历史记录，确保数据的快速读写与隔离性。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406900" y="40005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4A90E2">
              <a:alpha val="15000"/>
            </a:srgbClr>
          </a:solidFill>
          <a:ln w="12700" cmpd="sng" cap="flat">
            <a:solidFill>
              <a:srgbClr val="4A90E2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60900" y="42291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5067300" y="42037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All-in-One 交付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660900" y="4699000"/>
            <a:ext cx="2870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所有代码逻辑、样式与资源配置内联至单个 index.html 文件，实现真正的单文件分发，开箱即用，部署零成本。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051800" y="40005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4A90E2">
              <a:alpha val="15000"/>
            </a:srgbClr>
          </a:solidFill>
          <a:ln w="12700" cmpd="sng" cap="flat">
            <a:solidFill>
              <a:srgbClr val="4A90E2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305800" y="42291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712200" y="42037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清晰工程规范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305800" y="4699000"/>
            <a:ext cx="2870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代码按功能模块严格拆分，附带详尽的注释说明，兼顾可读性与可维护性，便于后续功能扩展与二次开发。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性能与兼容性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4A90E2">
              <a:alpha val="15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73200" y="2032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流畅渲染引擎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03500"/>
            <a:ext cx="2870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 requestAnimationFrame 实现稳定</a:t>
            </a:r>
            <a:r>
              <a:rPr lang="en-US" b="true" i="false" strike="noStrike" u="none" sz="14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60fps</a:t>
            </a:r>
            <a:r>
              <a:rPr lang="en-US" b="false" i="false" strike="noStrike" u="none" sz="14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渲染，画面丝滑无卡顿，保障高强度测试场景下的视觉流畅度。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94200" y="1778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4A90E2">
              <a:alpha val="15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48200" y="20320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105400" y="2032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微秒级计算精度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48200" y="2603500"/>
            <a:ext cx="2870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核心算法数值保留2位小数，误差严格控制在</a:t>
            </a:r>
            <a:r>
              <a:rPr lang="en-US" b="true" i="false" strike="noStrike" u="none" sz="14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1%</a:t>
            </a:r>
            <a:r>
              <a:rPr lang="en-US" b="false" i="false" strike="noStrike" u="none" sz="14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以内，确保测试数据反馈真实、精准、可靠。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26400" y="1778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4A90E2">
              <a:alpha val="15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80400" y="20320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737600" y="2032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毫秒级极速加载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80400" y="2603500"/>
            <a:ext cx="2870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首屏资源深度压缩与预加载优化，实现</a:t>
            </a:r>
            <a:r>
              <a:rPr lang="en-US" b="true" i="false" strike="noStrike" u="none" sz="14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&lt; 2秒</a:t>
            </a:r>
            <a:r>
              <a:rPr lang="en-US" b="false" i="false" strike="noStrike" u="none" sz="14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快速启动，即开即用，大幅降低用户等待成本。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064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4A90E2">
              <a:alpha val="15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473200" y="4318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全主流浏览器适配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4889500"/>
            <a:ext cx="2870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完美支持 Chrome、Edge (Chromium内核) 90+ 版本，同时兼容 Firefox 88+，覆盖95%以上的现代浏览器使用场景。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394200" y="4064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4A90E2">
              <a:alpha val="15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48200" y="4318000"/>
            <a:ext cx="355600" cy="355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5105400" y="4318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智能优雅降级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648200" y="4889500"/>
            <a:ext cx="2870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自动检测 Pointer Lock API 支持情况，对不兼容环境给予明确提示并安全禁用自测功能，避免系统异常崩溃。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026400" y="4064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4A90E2">
              <a:alpha val="15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280400" y="4318000"/>
            <a:ext cx="355600" cy="3556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737600" y="4318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金融级健壮校验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280400" y="4889500"/>
            <a:ext cx="2870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全链路输入合法性校验，配合异常捕获与容错机制，过滤非法数据干扰，保障系统在各种极端场景下稳定运行。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项目交付与验收标准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2098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2209800"/>
            <a:ext cx="241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标准化交付物清单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800" y="2984500"/>
            <a:ext cx="2870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涵盖需求规格书、高保真设计稿、可交付源码工程、自动化部署包及用户手册。所有产物需通过版本管控校验，确保格式规范、内容完整且可追溯，为后续运维提供完整依据。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06900" y="1905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711700" y="2209800"/>
            <a:ext cx="457200" cy="457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295900" y="2209800"/>
            <a:ext cx="241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量化验收核心指标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711700" y="2984500"/>
            <a:ext cx="2870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功能实现度100%覆盖需求，系统响应延迟&lt;200ms，保障电竞场景的高并发体验；同时需满足7x24小时无故障运行稳定性，并通过专业的安全渗透测试，杜绝安全隐患。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51800" y="1905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mpd="sng" cap="flat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56600" y="22098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940800" y="2209800"/>
            <a:ext cx="241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全链路验收闭环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56600" y="2984500"/>
            <a:ext cx="2870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执行“初验-复验-终验”三阶段验收：初验聚焦功能完整性，复验验证性能与安全合规，终验完成文档移交与运维培训，验收不通过即启动快速迭代，确保交付无死角。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461000"/>
            <a:ext cx="10668000" cy="812800"/>
          </a:xfrm>
          <a:prstGeom prst="roundRect">
            <a:avLst>
              <a:gd name="adj" fmla="val 0"/>
            </a:avLst>
          </a:prstGeom>
          <a:solidFill>
            <a:srgbClr val="000000">
              <a:alpha val="25000"/>
            </a:srgbClr>
          </a:solidFill>
          <a:ln w="12700" cmpd="sng" cap="flat">
            <a:solidFill>
              <a:srgbClr val="4A90E2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5613400"/>
            <a:ext cx="1016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将验收标准前置到研发全流程，以“高标准、严要求”的交付准则从源头把控质量，为电竞业务的稳定运行与快速迭代筑牢坚实基础。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交付物与验收标准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4A90E2">
              <a:alpha val="15000"/>
            </a:srgbClr>
          </a:solidFill>
          <a:ln w="12700" cmpd="sng" cap="flat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653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1549400"/>
            <a:ext cx="965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单文件交付：index.html 离线运行版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零依赖直接运行 · 代码总行数 &lt; 2000行 · 模块化结构清晰 · 注释详尽易维护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8575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3048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33500" y="3048000"/>
            <a:ext cx="203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功能完整性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3492500"/>
            <a:ext cx="215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全流程功能闭环无缺失，业务逻辑精准无误，交互反馈符合预期设计，无功能断点。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467100" y="28575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3657600" y="3048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038600" y="3048000"/>
            <a:ext cx="203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极致性能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657600" y="3492500"/>
            <a:ext cx="215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Canvas渲染稳定保持60fps以上，页面操作无明显卡顿，高负载场景依然流畅响应。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172200" y="28575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362700" y="3048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743700" y="3048000"/>
            <a:ext cx="203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广泛兼容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62700" y="3492500"/>
            <a:ext cx="215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完美适配Chrome、Edge、Firefox最新版浏览器，核心功能与样式无兼容性异常。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890000" y="28575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9080500" y="30480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9461500" y="3048000"/>
            <a:ext cx="203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规范编码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080500" y="3492500"/>
            <a:ext cx="215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代码按功能严格模块化划分，逻辑层次清晰，包含必要的技术注释，便于后续维护。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46990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▍ 核心迭代升级亮点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080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952500" y="5232400"/>
            <a:ext cx="254000" cy="2540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1270000" y="5232400"/>
            <a:ext cx="2857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视觉焕新与体验升级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52500" y="56134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从红橙主题升级为科技蓝紫电竞风格；新增输入合法性校验与完善的异常处理，操作更丝滑。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381500" y="5080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4572000" y="5232400"/>
            <a:ext cx="254000" cy="2540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4889500" y="5232400"/>
            <a:ext cx="2857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智能引擎与策略重构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4572000" y="56134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新增“操作流派”个性化选择；推荐逻辑重构为“基准值±15%”三套方案，适配不同玩家习惯。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001000" y="5080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8191500" y="5232400"/>
            <a:ext cx="254000" cy="2540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8509000" y="5232400"/>
            <a:ext cx="2857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功能扩展与反馈增强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191500" y="56134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上线准星实时预览、一键清空数据功能；增加详细的文字解读与风险提示，引导更清晰。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总结与未来展望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4A90E2">
              <a:alpha val="15000"/>
            </a:srgbClr>
          </a:solidFill>
          <a:ln w="12700" cmpd="sng" cap="flat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3495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3111500"/>
            <a:ext cx="2870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成果回顾 · ACHIEVEMENT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683000"/>
            <a:ext cx="28702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项目上线首月，日活跃用户突破50万，留存率稳定在45%以上，核心玩法渗透率达82%。各项关键指标均超额完成预期目标，充分验证了产品设计的可行性与巨大的市场潜力。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942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4A90E2">
              <a:alpha val="15000"/>
            </a:srgbClr>
          </a:solidFill>
          <a:ln w="12700" cmpd="sng" cap="flat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48200" y="23495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648200" y="3111500"/>
            <a:ext cx="2870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价值沉淀 · VALUE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48200" y="3683000"/>
            <a:ext cx="28702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成功搭建轻量化电竞社交底层架构，实现赛事、直播、社区的生态闭环。建立标准化UGC激励机制，日均产出优质内容超2000条，形成了高粘性、高活跃度的独特社区文化氛围。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264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4A90E2">
              <a:alpha val="15000"/>
            </a:srgbClr>
          </a:solidFill>
          <a:ln w="12700" cmpd="sng" cap="flat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80400" y="23495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280400" y="3111500"/>
            <a:ext cx="2870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 · FUTURE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80400" y="3683000"/>
            <a:ext cx="28702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Q4将推出全球邀请赛模式，打通跨国跨区实时对战；上线AI智能陪练系统降低门槛；并布局元宇宙虚拟观赛场景，打造沉浸式互动体验，构建下一代全球化电竞娱乐生态。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84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A90E2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以电竞为核，以技术为翼，持续探索数字娱乐的无限可能，打造全球领先的电竞社交平台。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项目总结与未来展望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0F172A">
              <a:alpha val="50000"/>
            </a:srgbClr>
          </a:solidFill>
          <a:ln w="12700" cmpd="sng" cap="flat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项目核心回顾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291" flipH="false" flipV="false">
            <a:off x="1016009" y="247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6670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“Apex 灵敏度实验室”通过创新的五维自测体系与智能推荐算法，将传统“凭感觉”的调参过程转化为科学、可量化的精准方案，为玩家提供了更可靠的参数配置依据。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746500"/>
            <a:ext cx="4699000" cy="825500"/>
          </a:xfrm>
          <a:prstGeom prst="roundRect">
            <a:avLst>
              <a:gd name="adj" fmla="val 0"/>
            </a:avLst>
          </a:prstGeom>
          <a:solidFill>
            <a:srgbClr val="4A90E2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68400" y="4000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574800" y="3835400"/>
            <a:ext cx="4064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科学精准，安全便捷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建立标准化调参模型，规避硬件适配风险，让参数调试过程高效且无后顾之忧。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762500"/>
            <a:ext cx="4699000" cy="825500"/>
          </a:xfrm>
          <a:prstGeom prst="roundRect">
            <a:avLst>
              <a:gd name="adj" fmla="val 0"/>
            </a:avLst>
          </a:prstGeom>
          <a:solidFill>
            <a:srgbClr val="4A90E2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68400" y="5016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74800" y="4851400"/>
            <a:ext cx="4064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省时增效，突破瓶颈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大幅缩短摸索时间，精准解决操作痛点，从基础设置层面提升游戏体验与竞技上限。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1651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0F172A">
              <a:alpha val="50000"/>
            </a:srgbClr>
          </a:solidFill>
          <a:ln w="12700" cmpd="sng" cap="flat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1905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02 未来发展蓝图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291" flipH="false" flipV="false">
            <a:off x="6477009" y="247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477000" y="2667000"/>
            <a:ext cx="2349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29400" y="2819400"/>
            <a:ext cx="279400" cy="279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959600" y="27940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全品类FPS适配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29400" y="3200400"/>
            <a:ext cx="2095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B4BECD"/>
                </a:solidFill>
                <a:latin typeface="Noto Sans SC"/>
                <a:ea typeface="Noto Sans SC"/>
                <a:cs typeface="Noto Sans SC"/>
                <a:sym typeface="Noto Sans SC"/>
              </a:rPr>
              <a:t>从单一游戏向《CS2》《Valorant》等主流竞技射击游戏拓展，覆盖更广泛的玩家群体。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953500" y="2667000"/>
            <a:ext cx="2349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105900" y="2819400"/>
            <a:ext cx="279400" cy="279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9436100" y="27940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AI深度数据分析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105900" y="3200400"/>
            <a:ext cx="2095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B4BECD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引入机器学习模型，结合实战数据生成动态优化建议，实现更个性化的参数定制。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77000" y="4127500"/>
            <a:ext cx="2349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629400" y="4279900"/>
            <a:ext cx="279400" cy="2794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6959600" y="42545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玩家交流社区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629400" y="4660900"/>
            <a:ext cx="2095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B4BECD"/>
                </a:solidFill>
                <a:latin typeface="Noto Sans SC"/>
                <a:ea typeface="Noto Sans SC"/>
                <a:cs typeface="Noto Sans SC"/>
                <a:sym typeface="Noto Sans SC"/>
              </a:rPr>
              <a:t>搭建配置方案分享平台，形成玩家间的经验共创与评测生态，沉淀优质调参内容。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953500" y="4127500"/>
            <a:ext cx="2349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9105900" y="4279900"/>
            <a:ext cx="279400" cy="2794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9436100" y="42545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移动端跨端协同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105900" y="4660900"/>
            <a:ext cx="2095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B4BECD"/>
                </a:solidFill>
                <a:latin typeface="Noto Sans SC"/>
                <a:ea typeface="Noto Sans SC"/>
                <a:cs typeface="Noto Sans SC"/>
                <a:sym typeface="Noto Sans SC"/>
              </a:rPr>
              <a:t>上线移动端工具，支持PC与手游灵敏度换算及参数同步，实现多场景无缝衔接。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3048000"/>
            <a:ext cx="1016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4699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以科技为翼，以电竞为帆，探索数字竞技的无限可能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5715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905000" y="5613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96B4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 E-SPORTS SUMMIT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{"Label":"1","ContentProducer":"001191110102MACQD9K64010000","ProduceID":"7667401779465866450","ReservedCode1":"","ContentPropagator":"","PropagateID":"","ReservedCode2":""}</vt:lpwstr>
  </property>
</Properties>
</file>